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Unbounded Light"/>
      <p:regular r:id="rId201314"/>
    </p:embeddedFont>
    <p:embeddedFont>
      <p:font typeface="Unbounded"/>
      <p:regular r:id="rId201315"/>
    </p:embeddedFont>
    <p:embeddedFont>
      <p:font typeface="Unbounded Bold"/>
      <p:regular r:id="rId201316"/>
    </p:embeddedFont>
    <p:embeddedFont>
      <p:font typeface="Ysabeau Office"/>
      <p:regular r:id="rId201317"/>
    </p:embeddedFont>
    <p:embeddedFont>
      <p:font typeface="Ysabeau Office Medium"/>
      <p:regular r:id="rId201318"/>
    </p:embeddedFont>
    <p:embeddedFont>
      <p:font typeface="Ysabeau Office SemiBold"/>
      <p:regular r:id="rId201319"/>
    </p:embeddedFont>
    <p:embeddedFont>
      <p:font typeface="Ysabeau Office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0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D0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://Smaran.ai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578" y="1913255"/>
            <a:ext cx="711182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PROJECT X · PERSISTENT MEMORY FOR TEAMS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63578" y="2281281"/>
            <a:ext cx="6502237" cy="96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7200" b="1" u="sng" dirty="0">
                <a:solidFill>
                  <a:srgbClr val="8258DA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Smaran.ai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63578" y="3463925"/>
            <a:ext cx="7111822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spc="8" kern="100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A project memory layer for decisions, reasoning, and trust.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3578" y="4063841"/>
            <a:ext cx="711182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Himesh Jadhav · Ankit Bhuria · Nabeel Ali · Abuzar Ansari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73150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7875"/>
            <a:ext cx="6705432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Every project forgets why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24661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0284" y="234821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8371" y="2280900"/>
            <a:ext cx="614664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Decisions live inside old chat threads.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5" y="293241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284" y="303401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8371" y="2966700"/>
            <a:ext cx="614664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Months later, teams reopen the same debate.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61821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284" y="371981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8371" y="3652500"/>
            <a:ext cx="614664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Most chatbots start every session from zero.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377" y="4458950"/>
            <a:ext cx="701022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“What did your team decide last week — and why?”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585" y="4380210"/>
            <a:ext cx="28574" cy="446980"/>
          </a:xfrm>
          <a:prstGeom prst="roundRect">
            <a:avLst>
              <a:gd name="adj" fmla="val 50000"/>
            </a:avLst>
          </a:prstGeom>
          <a:solidFill>
            <a:srgbClr val="1E0E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2773660"/>
            <a:ext cx="6705432" cy="12700"/>
          </a:xfrm>
          <a:prstGeom prst="rect">
            <a:avLst/>
          </a:prstGeom>
          <a:solidFill>
            <a:srgbClr val="9A72A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3459460"/>
            <a:ext cx="6705432" cy="12700"/>
          </a:xfrm>
          <a:prstGeom prst="rect">
            <a:avLst/>
          </a:prstGeom>
          <a:solidFill>
            <a:srgbClr val="9A72A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525766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7875"/>
            <a:ext cx="4648084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Smaran.ai remembers reasoning, not noise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077825"/>
            <a:ext cx="4648084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A project-level memory layer that carries decisions, assumptions, constraints, and outcomes into every new session.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609600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34027" y="1464733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Inspectable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934027" y="1904365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See what was recalled and why.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027" y="2374205"/>
            <a:ext cx="203195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4027" y="2996869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Correctable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934027" y="3436501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Conflicts wait for a human decision.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027" y="3906341"/>
            <a:ext cx="203195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34027" y="4529005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Temporary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934027" y="4968637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Constraints can expire on purpose.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THE MEMORY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7875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One message. Five memory moves.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95533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0284" y="305693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3417590"/>
            <a:ext cx="1950592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573720"/>
            <a:ext cx="195069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Embed the message.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4969" y="295533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5668" y="305693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64969" y="3417590"/>
            <a:ext cx="1950592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3573720"/>
            <a:ext cx="195069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Recall active, relevant project memories.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0353" y="295533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1053" y="305693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353" y="3417590"/>
            <a:ext cx="1950889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353" y="3573720"/>
            <a:ext cx="1950889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Reply with context while extracting new commitments.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75936" y="295533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6635" y="305693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5936" y="3417590"/>
            <a:ext cx="1950592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9" name="Text 17"/>
          <p:cNvSpPr/>
          <p:nvPr/>
        </p:nvSpPr>
        <p:spPr>
          <a:xfrm>
            <a:off x="7375936" y="3573720"/>
            <a:ext cx="195069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Reconcile: new, duplicate, conflict, or invalidation.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31320" y="295533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2020" y="305693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31320" y="3417590"/>
            <a:ext cx="1950691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23" name="Text 21"/>
          <p:cNvSpPr/>
          <p:nvPr/>
        </p:nvSpPr>
        <p:spPr>
          <a:xfrm>
            <a:off x="9631320" y="3573720"/>
            <a:ext cx="195079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Write the change and show the evidence.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4473813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Reply and extraction run in parallel to keep the loop fast.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48899"/>
            <a:ext cx="60399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THE “AHA” MOMENT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668919"/>
            <a:ext cx="5430404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Memory changes the answer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821444"/>
            <a:ext cx="603998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Same project. New session. Different answer.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291284"/>
            <a:ext cx="2638954" cy="2226072"/>
          </a:xfrm>
          <a:prstGeom prst="roundRect">
            <a:avLst>
              <a:gd name="adj" fmla="val 8215"/>
            </a:avLst>
          </a:prstGeom>
          <a:solidFill>
            <a:srgbClr val="2A1A55"/>
          </a:solidFill>
          <a:ln w="25399">
            <a:solidFill>
              <a:srgbClr val="453E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984" y="3316684"/>
            <a:ext cx="2588156" cy="622300"/>
          </a:xfrm>
          <a:custGeom>
            <a:avLst/>
            <a:gdLst/>
            <a:ahLst/>
            <a:cxnLst/>
            <a:rect l="l" t="t" r="r" b="b"/>
            <a:pathLst>
              <a:path w="2588156" h="622300">
                <a:moveTo>
                  <a:pt x="123822" y="0"/>
                </a:moveTo>
                <a:lnTo>
                  <a:pt x="2464334" y="0"/>
                </a:lnTo>
                <a:arcTo hR="123825" wR="123822" stAng="16200000" swAng="5400000"/>
                <a:lnTo>
                  <a:pt x="2588156" y="622300"/>
                </a:lnTo>
                <a:lnTo>
                  <a:pt x="0" y="622300"/>
                </a:lnTo>
                <a:lnTo>
                  <a:pt x="0" y="123825"/>
                </a:lnTo>
                <a:arcTo hR="123825" wR="123822" stAng="10800000" swAng="5400000"/>
                <a:close/>
              </a:path>
            </a:pathLst>
          </a:custGeom>
          <a:solidFill>
            <a:srgbClr val="1D1630"/>
          </a:solidFill>
          <a:ln/>
        </p:spPr>
      </p:sp>
      <p:sp>
        <p:nvSpPr>
          <p:cNvPr id="7" name="Shape 5"/>
          <p:cNvSpPr/>
          <p:nvPr/>
        </p:nvSpPr>
        <p:spPr>
          <a:xfrm>
            <a:off x="634984" y="3926284"/>
            <a:ext cx="2588156" cy="12700"/>
          </a:xfrm>
          <a:prstGeom prst="rect">
            <a:avLst/>
          </a:prstGeom>
          <a:solidFill>
            <a:srgbClr val="453E58"/>
          </a:solidFill>
          <a:ln/>
        </p:spPr>
      </p:sp>
      <p:sp>
        <p:nvSpPr>
          <p:cNvPr id="8" name="Text 6"/>
          <p:cNvSpPr/>
          <p:nvPr/>
        </p:nvSpPr>
        <p:spPr>
          <a:xfrm>
            <a:off x="1849689" y="3469084"/>
            <a:ext cx="7682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179" y="4033599"/>
            <a:ext cx="218176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Session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179" y="4407555"/>
            <a:ext cx="218176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“We’re using MongoDB because menus and orders are flexible.”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00935" y="3291284"/>
            <a:ext cx="2639054" cy="2226072"/>
          </a:xfrm>
          <a:prstGeom prst="roundRect">
            <a:avLst>
              <a:gd name="adj" fmla="val 8215"/>
            </a:avLst>
          </a:prstGeom>
          <a:solidFill>
            <a:srgbClr val="1E0E3F"/>
          </a:solidFill>
          <a:ln w="25399">
            <a:solidFill>
              <a:srgbClr val="453E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6335" y="3316684"/>
            <a:ext cx="2588255" cy="622300"/>
          </a:xfrm>
          <a:custGeom>
            <a:avLst/>
            <a:gdLst/>
            <a:ahLst/>
            <a:cxnLst/>
            <a:rect l="l" t="t" r="r" b="b"/>
            <a:pathLst>
              <a:path w="2588255" h="622300">
                <a:moveTo>
                  <a:pt x="123822" y="0"/>
                </a:moveTo>
                <a:lnTo>
                  <a:pt x="2464433" y="0"/>
                </a:lnTo>
                <a:arcTo hR="123825" wR="123822" stAng="16200000" swAng="5400000"/>
                <a:lnTo>
                  <a:pt x="2588255" y="622300"/>
                </a:lnTo>
                <a:lnTo>
                  <a:pt x="0" y="622300"/>
                </a:lnTo>
                <a:lnTo>
                  <a:pt x="0" y="123825"/>
                </a:lnTo>
                <a:arcTo hR="123825" wR="123822" stAng="10800000" swAng="5400000"/>
                <a:close/>
              </a:path>
            </a:pathLst>
          </a:custGeom>
          <a:solidFill>
            <a:srgbClr val="1D1630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6335" y="3926284"/>
            <a:ext cx="2588255" cy="12700"/>
          </a:xfrm>
          <a:prstGeom prst="rect">
            <a:avLst/>
          </a:prstGeom>
          <a:solidFill>
            <a:srgbClr val="453E58"/>
          </a:solidFill>
          <a:ln/>
        </p:spPr>
      </p:sp>
      <p:sp>
        <p:nvSpPr>
          <p:cNvPr id="14" name="Text 12"/>
          <p:cNvSpPr/>
          <p:nvPr/>
        </p:nvSpPr>
        <p:spPr>
          <a:xfrm>
            <a:off x="4641139" y="3469084"/>
            <a:ext cx="7682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29530" y="4033599"/>
            <a:ext cx="218186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Session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9530" y="4407555"/>
            <a:ext cx="218186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“Let’s use Postgres for orders.”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0056" y="137021"/>
            <a:ext cx="4678245" cy="65836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248" y="609600"/>
            <a:ext cx="3865863" cy="402798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716248" y="4815384"/>
            <a:ext cx="3865863" cy="1433016"/>
          </a:xfrm>
          <a:prstGeom prst="rect">
            <a:avLst/>
          </a:prstGeom>
          <a:solidFill>
            <a:srgbClr val="2A1A55"/>
          </a:solidFill>
          <a:ln/>
        </p:spPr>
      </p:sp>
      <p:sp>
        <p:nvSpPr>
          <p:cNvPr id="21" name="Text 17"/>
          <p:cNvSpPr/>
          <p:nvPr/>
        </p:nvSpPr>
        <p:spPr>
          <a:xfrm>
            <a:off x="7944842" y="5059224"/>
            <a:ext cx="340867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Smaran.ai pushes back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944842" y="5433179"/>
            <a:ext cx="340867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Earlier decision. Date. Reason. A visible “used in this reply” trail.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CONFLICT HANDLING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787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Conflicts become decisions — not silent contradictions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90400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When a new proposal conflicts with an active memory, it waits as pending until someone chooses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spc="8" kern="100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0"/>
              </a:rPr>
              <a:t>Override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 or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spc="8" kern="100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0"/>
              </a:rPr>
              <a:t>Keep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560241"/>
            <a:ext cx="3657509" cy="1494036"/>
          </a:xfrm>
          <a:custGeom>
            <a:avLst/>
            <a:gdLst/>
            <a:ahLst/>
            <a:cxnLst/>
            <a:rect l="l" t="t" r="r" b="b"/>
            <a:pathLst>
              <a:path w="3657509" h="1494036">
                <a:moveTo>
                  <a:pt x="152396" y="0"/>
                </a:moveTo>
                <a:lnTo>
                  <a:pt x="3657509" y="0"/>
                </a:lnTo>
                <a:lnTo>
                  <a:pt x="3657509" y="1494036"/>
                </a:lnTo>
                <a:lnTo>
                  <a:pt x="152396" y="1494036"/>
                </a:lnTo>
                <a:arcTo hR="152400" wR="152396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A1A55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99424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Pending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239056"/>
            <a:ext cx="320032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New proposal conflicts with an active memory.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093" y="2560241"/>
            <a:ext cx="3657509" cy="1494036"/>
          </a:xfrm>
          <a:prstGeom prst="rect">
            <a:avLst/>
          </a:prstGeom>
          <a:solidFill>
            <a:srgbClr val="2A1A55"/>
          </a:solidFill>
          <a:ln/>
        </p:spPr>
      </p:sp>
      <p:sp>
        <p:nvSpPr>
          <p:cNvPr id="9" name="Text 7"/>
          <p:cNvSpPr/>
          <p:nvPr/>
        </p:nvSpPr>
        <p:spPr>
          <a:xfrm>
            <a:off x="4495688" y="2799424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Override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95688" y="3239056"/>
            <a:ext cx="34289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The new decision becomes active.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24602" y="2560241"/>
            <a:ext cx="3657509" cy="1494036"/>
          </a:xfrm>
          <a:custGeom>
            <a:avLst/>
            <a:gdLst/>
            <a:ahLst/>
            <a:cxnLst/>
            <a:rect l="l" t="t" r="r" b="b"/>
            <a:pathLst>
              <a:path w="3657509" h="1494036">
                <a:moveTo>
                  <a:pt x="0" y="0"/>
                </a:moveTo>
                <a:lnTo>
                  <a:pt x="3505112" y="0"/>
                </a:lnTo>
                <a:arcTo hR="152400" wR="152396" stAng="16200000" swAng="5400000"/>
                <a:lnTo>
                  <a:pt x="3657509" y="1341636"/>
                </a:lnTo>
                <a:arcTo hR="152400" wR="152396" stAng="0" swAng="5400000"/>
                <a:lnTo>
                  <a:pt x="0" y="1494036"/>
                </a:lnTo>
                <a:lnTo>
                  <a:pt x="0" y="0"/>
                </a:lnTo>
                <a:close/>
              </a:path>
            </a:pathLst>
          </a:custGeom>
          <a:solidFill>
            <a:srgbClr val="2A1A55"/>
          </a:solidFill>
          <a:ln/>
        </p:spPr>
      </p:sp>
      <p:sp>
        <p:nvSpPr>
          <p:cNvPr id="12" name="Text 10"/>
          <p:cNvSpPr/>
          <p:nvPr/>
        </p:nvSpPr>
        <p:spPr>
          <a:xfrm>
            <a:off x="8153196" y="2799424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Keep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53196" y="3239056"/>
            <a:ext cx="320032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The proposal is removed from retrieval.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585" y="423826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Timeline: MongoDB → Postgres stays explainable.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60743" y="2560241"/>
            <a:ext cx="12700" cy="1494036"/>
          </a:xfrm>
          <a:prstGeom prst="rect">
            <a:avLst/>
          </a:prstGeom>
          <a:solidFill>
            <a:srgbClr val="9A72A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2560241"/>
            <a:ext cx="12700" cy="1494036"/>
          </a:xfrm>
          <a:prstGeom prst="rect">
            <a:avLst/>
          </a:prstGeom>
          <a:solidFill>
            <a:srgbClr val="9A72A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57122"/>
            <a:ext cx="525766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TEAM MODE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2377142"/>
            <a:ext cx="4648084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One live project memory. Two accountable windows.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4517092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Shared reasoning. Clear accountability.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609600"/>
            <a:ext cx="4648084" cy="1923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2975" y="1144129"/>
            <a:ext cx="749000" cy="11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4" kern="100" dirty="0">
                <a:solidFill>
                  <a:srgbClr val="F1E9F6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Alice's View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042975" y="1312525"/>
            <a:ext cx="749000" cy="239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650" spc="4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Decision posted with author attribution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0714866" y="1144129"/>
            <a:ext cx="749000" cy="11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4" kern="100" dirty="0">
                <a:solidFill>
                  <a:srgbClr val="F1E9F6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Bob's View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4866" y="1312525"/>
            <a:ext cx="749000" cy="35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650" spc="4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Conflicting proposal appears to Alice for review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TRUST BY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7875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Trust is designed into every memory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94148"/>
            <a:ext cx="558786" cy="5588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82" y="1708448"/>
            <a:ext cx="330192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341331"/>
            <a:ext cx="342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Score breakdown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9585" y="2780963"/>
            <a:ext cx="36575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Similarity × confidence.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95688" y="1594148"/>
            <a:ext cx="558786" cy="5588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85" y="1708448"/>
            <a:ext cx="330192" cy="33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5688" y="2341331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Source quote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495688" y="2780963"/>
            <a:ext cx="34289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The exact words behind the memory.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53196" y="1594148"/>
            <a:ext cx="558786" cy="5588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493" y="1708448"/>
            <a:ext cx="330192" cy="33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3196" y="2341331"/>
            <a:ext cx="342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Secret guard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153196" y="2780963"/>
            <a:ext cx="34289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Passwords and keys are never stored.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09585" y="4149824"/>
            <a:ext cx="558786" cy="5588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82" y="4264124"/>
            <a:ext cx="330192" cy="330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585" y="4897008"/>
            <a:ext cx="342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TTL expiry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09585" y="5336639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Temporary constraints expire, with a retrieval backstop.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495688" y="4149824"/>
            <a:ext cx="558786" cy="5588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985" y="4297164"/>
            <a:ext cx="330192" cy="2641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95688" y="4897008"/>
            <a:ext cx="70864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10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Delete means delete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4495688" y="5336639"/>
            <a:ext cx="708642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Permanent deletion is separate from historical superseding.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4260743" y="1594148"/>
            <a:ext cx="12700" cy="2327077"/>
          </a:xfrm>
          <a:prstGeom prst="rect">
            <a:avLst/>
          </a:prstGeom>
          <a:solidFill>
            <a:srgbClr val="9A72AA"/>
          </a:solidFill>
          <a:ln/>
        </p:spPr>
      </p:sp>
      <p:sp>
        <p:nvSpPr>
          <p:cNvPr id="25" name="Shape 18"/>
          <p:cNvSpPr/>
          <p:nvPr/>
        </p:nvSpPr>
        <p:spPr>
          <a:xfrm>
            <a:off x="7918252" y="1594148"/>
            <a:ext cx="12700" cy="2327077"/>
          </a:xfrm>
          <a:prstGeom prst="rect">
            <a:avLst/>
          </a:prstGeom>
          <a:solidFill>
            <a:srgbClr val="9A72AA"/>
          </a:solidFill>
          <a:ln/>
        </p:spPr>
      </p:sp>
      <p:sp>
        <p:nvSpPr>
          <p:cNvPr id="26" name="Shape 19"/>
          <p:cNvSpPr/>
          <p:nvPr/>
        </p:nvSpPr>
        <p:spPr>
          <a:xfrm>
            <a:off x="609585" y="3914874"/>
            <a:ext cx="3657509" cy="12700"/>
          </a:xfrm>
          <a:prstGeom prst="rect">
            <a:avLst/>
          </a:prstGeom>
          <a:solidFill>
            <a:srgbClr val="9A72AA"/>
          </a:solidFill>
          <a:ln/>
        </p:spPr>
      </p:sp>
      <p:sp>
        <p:nvSpPr>
          <p:cNvPr id="27" name="Shape 20"/>
          <p:cNvSpPr/>
          <p:nvPr/>
        </p:nvSpPr>
        <p:spPr>
          <a:xfrm>
            <a:off x="4260743" y="3921224"/>
            <a:ext cx="12700" cy="2327176"/>
          </a:xfrm>
          <a:prstGeom prst="rect">
            <a:avLst/>
          </a:prstGeom>
          <a:solidFill>
            <a:srgbClr val="9A72AA"/>
          </a:solidFill>
          <a:ln/>
        </p:spPr>
      </p:sp>
      <p:sp>
        <p:nvSpPr>
          <p:cNvPr id="28" name="Shape 21"/>
          <p:cNvSpPr/>
          <p:nvPr/>
        </p:nvSpPr>
        <p:spPr>
          <a:xfrm>
            <a:off x="4267093" y="3914874"/>
            <a:ext cx="7315017" cy="12700"/>
          </a:xfrm>
          <a:prstGeom prst="rect">
            <a:avLst/>
          </a:prstGeom>
          <a:solidFill>
            <a:srgbClr val="9A72A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THE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7875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MongoDB is doing the right jobs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75098"/>
            <a:ext cx="10286743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089664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React + Vite · Node + Express · MongoDB Atlas · provider fallback chain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68223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LIVE DEMO · FOUR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7875"/>
            <a:ext cx="6212724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8" kern="1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Four minutes to prove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08786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0284" y="218946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550120"/>
            <a:ext cx="1120549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706251"/>
            <a:ext cx="112064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Create a decision, assumption, and temporary constraint.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82529" y="208786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3229" y="218946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82529" y="2550120"/>
            <a:ext cx="1120747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1" name="Text 9"/>
          <p:cNvSpPr/>
          <p:nvPr/>
        </p:nvSpPr>
        <p:spPr>
          <a:xfrm>
            <a:off x="1882529" y="2706251"/>
            <a:ext cx="1120747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Start a new session and ask for the opposite database.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55573" y="208786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6273" y="218946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5573" y="2550120"/>
            <a:ext cx="1120549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5" name="Text 13"/>
          <p:cNvSpPr/>
          <p:nvPr/>
        </p:nvSpPr>
        <p:spPr>
          <a:xfrm>
            <a:off x="3155573" y="2706251"/>
            <a:ext cx="112064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Let the judge choose: Override or Keep?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28518" y="208786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9218" y="218946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28518" y="2550120"/>
            <a:ext cx="1120747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9" name="Text 17"/>
          <p:cNvSpPr/>
          <p:nvPr/>
        </p:nvSpPr>
        <p:spPr>
          <a:xfrm>
            <a:off x="4428518" y="2706251"/>
            <a:ext cx="1120747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Open the memory panel, timeline, and Atlas document.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01562" y="2087860"/>
            <a:ext cx="380990" cy="381000"/>
          </a:xfrm>
          <a:prstGeom prst="ellipse">
            <a:avLst/>
          </a:prstGeom>
          <a:noFill/>
          <a:ln w="12700">
            <a:solidFill>
              <a:srgbClr val="9A72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52262" y="2189460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8" kern="100" dirty="0">
                <a:solidFill>
                  <a:srgbClr val="B796C6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01562" y="2550120"/>
            <a:ext cx="1120747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23" name="Text 21"/>
          <p:cNvSpPr/>
          <p:nvPr/>
        </p:nvSpPr>
        <p:spPr>
          <a:xfrm>
            <a:off x="5701562" y="2706251"/>
            <a:ext cx="1120747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8" kern="10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Toggle memory off, repeat the question, then turn it on again.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4337685"/>
            <a:ext cx="682230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Interactive close: “Which memory should the team trust?”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1024" y="137021"/>
            <a:ext cx="3958630" cy="65836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888983" y="0"/>
            <a:ext cx="4302712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568" y="609600"/>
            <a:ext cx="3083542" cy="563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258D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2026-10-25T09:40:06Z</dcterms:created>
  <dcterms:modified xsi:type="dcterms:W3CDTF">2026-10-25T09:40:06Z</dcterms:modified>
</cp:coreProperties>
</file>